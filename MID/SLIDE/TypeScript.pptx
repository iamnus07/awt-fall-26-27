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8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74B1D2-9545-414A-83A3-2388D3D87A0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58FB3-116E-4B63-823D-FE8789446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178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 die ki type  r data return </a:t>
            </a:r>
            <a:r>
              <a:rPr lang="en-US" dirty="0" err="1"/>
              <a:t>korbo</a:t>
            </a:r>
            <a:r>
              <a:rPr lang="en-US" dirty="0"/>
              <a:t> oi interface wise , so oi type r data </a:t>
            </a:r>
            <a:r>
              <a:rPr lang="en-US" dirty="0" err="1"/>
              <a:t>retruen</a:t>
            </a:r>
            <a:r>
              <a:rPr lang="en-US" dirty="0"/>
              <a:t> </a:t>
            </a:r>
            <a:r>
              <a:rPr lang="en-US" dirty="0" err="1"/>
              <a:t>korbe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58FB3-116E-4B63-823D-FE8789446C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895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TypeScript — Complete Beginner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E7DAA"/>
                </a:solidFill>
              </a:defRPr>
            </a:pPr>
            <a:r>
              <a:t>Detailed classroom lecture for students preparing for modern JavaScript frameworks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F4E79"/>
                </a:solidFill>
              </a:defRPr>
            </a:pPr>
            <a:r>
              <a:t>From JavaScript fundamentals to the TypeScript features used heavily in NestJS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5074920" cy="3246120"/>
          </a:xfrm>
          <a:prstGeom prst="roundRect">
            <a:avLst/>
          </a:prstGeom>
          <a:solidFill>
            <a:srgbClr val="F5F8F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2441448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F4E79"/>
                </a:solidFill>
              </a:defRPr>
            </a:pPr>
            <a:r>
              <a:t>Learning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862072"/>
            <a:ext cx="4745736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</a:defRPr>
            </a:pPr>
            <a:r>
              <a:t>Understand TypeScript and its relationship with JavaScript.</a:t>
            </a:r>
          </a:p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</a:defRPr>
            </a:pPr>
            <a:r>
              <a:t>Write variables, arrays, objects, functions and classes with types.</a:t>
            </a:r>
          </a:p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</a:defRPr>
            </a:pPr>
            <a:r>
              <a:t>Use interfaces, type aliases, unions, optional properties and generics.</a:t>
            </a:r>
          </a:p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</a:defRPr>
            </a:pPr>
            <a:r>
              <a:t>Understand constructors, access modifiers and inheritance.</a:t>
            </a:r>
          </a:p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</a:defRPr>
            </a:pPr>
            <a:r>
              <a:t>Use async/await with Promise&lt;T&gt;.</a:t>
            </a:r>
          </a:p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</a:defRPr>
            </a:pPr>
            <a:r>
              <a:t>Build the foundation required for NestJS.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331720"/>
            <a:ext cx="4983480" cy="3246120"/>
          </a:xfrm>
          <a:prstGeom prst="roundRect">
            <a:avLst/>
          </a:prstGeom>
          <a:solidFill>
            <a:srgbClr val="F5F8FC"/>
          </a:solidFill>
          <a:ln>
            <a:solidFill>
              <a:srgbClr val="2D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28231" y="2441448"/>
            <a:ext cx="465429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D7D4B"/>
                </a:solidFill>
              </a:defRPr>
            </a:pPr>
            <a:r>
              <a:rPr dirty="0"/>
              <a:t>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2862072"/>
            <a:ext cx="4654296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</a:defRPr>
            </a:pPr>
            <a:r>
              <a:t>Concept → Syntax → Example → Common mistake → Practice</a:t>
            </a:r>
          </a:p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</a:defRPr>
            </a:pPr>
            <a:r>
              <a:t>Students should type the examples rather than only reading them.</a:t>
            </a:r>
          </a:p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</a:defRPr>
            </a:pPr>
            <a:r>
              <a:t>Recommended prerequisite: basic JavaScript.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6464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1. What is TypeScript?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E7DAA"/>
                </a:solidFill>
              </a:defRPr>
            </a:pPr>
            <a:r>
              <a:rPr dirty="0"/>
              <a:t>Definition, purpose and relationship with JavaScript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232323"/>
                </a:solidFill>
              </a:defRPr>
            </a:pPr>
            <a:r>
              <a:rPr dirty="0"/>
              <a:t>TypeScript is a strongly typed programming language built on top of JavaScript. It adds a static type system and developer tooling, then is compiled/</a:t>
            </a:r>
            <a:r>
              <a:rPr dirty="0" err="1"/>
              <a:t>transpiled</a:t>
            </a:r>
            <a:r>
              <a:rPr dirty="0"/>
              <a:t> to JavaScript.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23160"/>
            <a:ext cx="4754880" cy="310896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806735"/>
            <a:ext cx="4425696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rPr dirty="0"/>
              <a:t>JavaScript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rPr dirty="0"/>
              <a:t>    ↓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rPr dirty="0"/>
              <a:t>TypeScript adds types + tooling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rPr dirty="0"/>
              <a:t>    ↓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rPr dirty="0"/>
              <a:t>TypeScript compiler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rPr dirty="0"/>
              <a:t>    ↓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rPr dirty="0"/>
              <a:t>JavaScript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rPr dirty="0"/>
              <a:t>    ↓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rPr dirty="0"/>
              <a:t>Browser / Node.js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F4E79"/>
                </a:solidFill>
              </a:defRPr>
            </a:pPr>
            <a:r>
              <a:t>Important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283464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rPr dirty="0"/>
              <a:t>• TypeScript is not a replacement runtime for JavaScript.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rPr dirty="0"/>
              <a:t>• Browsers normally execute JavaScript, not raw TypeScript.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rPr dirty="0"/>
              <a:t>• TypeScript catches many type-related mistakes before execution.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rPr dirty="0"/>
              <a:t>• It is widely used for large applications and backend development.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646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2. Why Do We Need TypeScript?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E7DAA"/>
                </a:solidFill>
              </a:defRPr>
            </a:pPr>
            <a:r>
              <a:t>The problem with dynamically typed JavaScript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438912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344168"/>
            <a:ext cx="4882896" cy="4169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rPr dirty="0"/>
              <a:t>let age = 25;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rPr dirty="0"/>
              <a:t>age = "twenty five";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rPr dirty="0"/>
              <a:t>function add(a, b)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rPr dirty="0"/>
              <a:t>    return a + b;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rPr dirty="0"/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rPr dirty="0"/>
              <a:t>add(10, "20");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258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232323"/>
                </a:solidFill>
              </a:defRPr>
            </a:pPr>
            <a:r>
              <a:t>JavaScript may allow values of different types to flow through the program. Some mistakes are discovered only when the code runs.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971800"/>
            <a:ext cx="4846320" cy="2240280"/>
          </a:xfrm>
          <a:prstGeom prst="roundRect">
            <a:avLst/>
          </a:prstGeom>
          <a:solidFill>
            <a:srgbClr val="F5F8FC"/>
          </a:solidFill>
          <a:ln>
            <a:solidFill>
              <a:srgbClr val="2D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3952" y="3081528"/>
            <a:ext cx="45171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D7D4B"/>
                </a:solidFill>
              </a:defRPr>
            </a:pPr>
            <a:r>
              <a:t>TypeScript's benefit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3502152"/>
            <a:ext cx="451713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</a:defRPr>
            </a:pPr>
            <a:r>
              <a:t>let age: number = 25;</a:t>
            </a:r>
          </a:p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</a:defRPr>
            </a:pPr>
            <a:r>
              <a:t>age = "twenty five"; // ❌</a:t>
            </a:r>
          </a:p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</a:defRPr>
            </a:pPr>
            <a:r>
              <a:t>The editor/compiler can warn us before the program is executed.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646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3. TypeScript vs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E7DAA"/>
                </a:solidFill>
              </a:defRPr>
            </a:pPr>
            <a:r>
              <a:t>Understand the main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F4E79"/>
                </a:solidFill>
              </a:defRPr>
            </a:pPr>
            <a:r>
              <a:t>JavaScript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4754880" cy="173736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755648"/>
            <a:ext cx="4425696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let value = 10;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value = "Hello"; // allowed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Dynamic typing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Type is associated with the current value at runtime.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F4E79"/>
                </a:solidFill>
              </a:defRPr>
            </a:pPr>
            <a:r>
              <a:t>TypeScript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4754880" cy="173736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65392" y="1755648"/>
            <a:ext cx="4425696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let value: number = 10;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value = "Hello"; // 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65760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Static type checking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Types can be checked during development/compilation.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52578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2D7D4B"/>
                </a:solidFill>
              </a:defRPr>
            </a:pPr>
            <a:r>
              <a:t>Key idea: TypeScript helps developers find many mistakes earlier.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646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4. Basic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E7DAA"/>
                </a:solidFill>
              </a:defRPr>
            </a:pPr>
            <a:r>
              <a:t>The most important primitive types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394960" cy="292608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344168"/>
            <a:ext cx="5065776" cy="2706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let name: string = "Hamim";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let age: number = 25;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let cgpa: number = 3.98;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let isTeacher: boolean = true;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457200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65392" y="1298448"/>
            <a:ext cx="4242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F4E79"/>
                </a:solidFill>
              </a:defRPr>
            </a:pPr>
            <a:r>
              <a:t>string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1719072"/>
            <a:ext cx="42428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</a:defRPr>
            </a:pPr>
            <a:r>
              <a:t>Text values.</a:t>
            </a:r>
          </a:p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</a:defRPr>
            </a:pPr>
            <a:r>
              <a:t>Example: "Hamim", "CSE", "Hello"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788920"/>
            <a:ext cx="457200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65392" y="2898648"/>
            <a:ext cx="4242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F4E79"/>
                </a:solidFill>
              </a:defRPr>
            </a:pPr>
            <a:r>
              <a:t>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3319272"/>
            <a:ext cx="42428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</a:defRPr>
            </a:pPr>
            <a:r>
              <a:t>Integer and floating-point numbers.</a:t>
            </a:r>
          </a:p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</a:defRPr>
            </a:pPr>
            <a:r>
              <a:t>Example: 25, 3.98, -10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389120"/>
            <a:ext cx="457200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4498848"/>
            <a:ext cx="4242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F4E79"/>
                </a:solidFill>
              </a:defRPr>
            </a:pPr>
            <a:r>
              <a:t>boolean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4919472"/>
            <a:ext cx="42428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</a:defRPr>
            </a:pPr>
            <a:r>
              <a:t>Logical true/false values.</a:t>
            </a:r>
          </a:p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</a:defRPr>
            </a:pPr>
            <a:r>
              <a:t>Example: true, false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97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646464"/>
                </a:solidFill>
              </a:defRPr>
            </a:pPr>
            <a:r>
              <a:t>Other types you will encounter: null, undefined, object, arrays, functions, union types, custom types.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646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5. Type Annotation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E7DAA"/>
                </a:solidFill>
              </a:defRPr>
            </a:pPr>
            <a:r>
              <a:t>How to explicitly tell TypeScript a variable's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F4E79"/>
                </a:solidFill>
              </a:defRPr>
            </a:pPr>
            <a:r>
              <a:t>Syntax: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656377"/>
            <a:ext cx="4754880" cy="82296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16152" y="1918452"/>
            <a:ext cx="44256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EEEEEE"/>
                </a:solidFill>
                <a:latin typeface="Consolas"/>
              </a:defRPr>
            </a:pPr>
            <a:r>
              <a:t>let variableName: type = value;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006588"/>
            <a:ext cx="5669280" cy="320040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896112" y="3203448"/>
            <a:ext cx="5340096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let studentName: string = "Hamim";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let studentAge: number = 25;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let passed: boolean = true;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studentAge = "25"; // 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745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F4E79"/>
                </a:solidFill>
              </a:defRPr>
            </a:pPr>
            <a:r>
              <a:t>Read the syntax as: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423160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232323"/>
                </a:solidFill>
              </a:defRPr>
            </a:pPr>
            <a:r>
              <a:t>studentAge : number</a:t>
            </a:r>
          </a:p>
          <a:p>
            <a:pPr>
              <a:spcAft>
                <a:spcPts val="500"/>
              </a:spcAft>
              <a:defRPr sz="2000" b="0">
                <a:solidFill>
                  <a:srgbClr val="23232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2000" b="0">
                <a:solidFill>
                  <a:srgbClr val="232323"/>
                </a:solidFill>
              </a:defRPr>
            </a:pPr>
            <a:r>
              <a:t>“studentAge must contain a number.”</a:t>
            </a:r>
          </a:p>
          <a:p>
            <a:pPr>
              <a:spcAft>
                <a:spcPts val="500"/>
              </a:spcAft>
              <a:defRPr sz="2000" b="0">
                <a:solidFill>
                  <a:srgbClr val="23232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2000" b="0">
                <a:solidFill>
                  <a:srgbClr val="232323"/>
                </a:solidFill>
              </a:defRPr>
            </a:pPr>
            <a:r>
              <a:t>The colon (:) is used to specify a type.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80060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D7D4B"/>
                </a:solidFill>
              </a:defRPr>
            </a:pPr>
            <a:r>
              <a:t>Classroom tip: Explain the colon as “is of type”.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646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6. Type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E7DAA"/>
                </a:solidFill>
              </a:defRPr>
            </a:pPr>
            <a:r>
              <a:t>TypeScript can determine types automatically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5852160" cy="256032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007108"/>
            <a:ext cx="5522976" cy="2340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rPr dirty="0"/>
              <a:t>let name = "Hamim";   // inferred: string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rPr dirty="0"/>
              <a:t>let age = 25;         // inferred: number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rPr dirty="0"/>
              <a:t>let active = true;    // inferred: </a:t>
            </a:r>
            <a:r>
              <a:rPr dirty="0" err="1"/>
              <a:t>boolean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04088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F4E79"/>
                </a:solidFill>
              </a:defRPr>
            </a:pPr>
            <a:r>
              <a:t>What happened?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874519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232323"/>
                </a:solidFill>
              </a:defRPr>
            </a:pPr>
            <a:r>
              <a:t>TypeScript looks at the assigned value and infers the most appropriate type.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3474720"/>
            <a:ext cx="3749039" cy="137160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05472" y="3584448"/>
            <a:ext cx="3419856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let age = 25;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age = "25"; // 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34924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D7D4B"/>
                </a:solidFill>
              </a:defRPr>
            </a:pPr>
            <a:r>
              <a:t>Inference reduces unnecessary repetition, but explicit types are valuable when defining reusable structures and APIs.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646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7.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E7DAA"/>
                </a:solidFill>
              </a:defRPr>
            </a:pPr>
            <a:r>
              <a:t>Typing collections of values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5669280" cy="429768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252728"/>
            <a:ext cx="5340096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let names: string[] = [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"Rahim",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"Karim",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"Hamim"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];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names.push("Sakib"); // ✅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names.push(100);       // 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F4E79"/>
                </a:solidFill>
              </a:defRPr>
            </a:pPr>
            <a:r>
              <a:t>Common syntax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783080"/>
            <a:ext cx="4480560" cy="224028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31152" y="1892807"/>
            <a:ext cx="4151376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let marks: number[] = [80, 75, 90];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let names2: Array&lt;string&gt; = [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"A", "B", "C"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];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434340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string[] means: every element should be a string.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number[] means: every element should be a number.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6464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8.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E7DAA"/>
                </a:solidFill>
              </a:defRPr>
            </a:pPr>
            <a:r>
              <a:t>Representing related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393192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344168"/>
            <a:ext cx="4882896" cy="3712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const student =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id: 42017,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name: "Hamim",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cgpa: 3.98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console.log(student.name);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F4E79"/>
                </a:solidFill>
              </a:defRPr>
            </a:pPr>
            <a:r>
              <a:t>An object stores related properties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74519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232323"/>
                </a:solidFill>
              </a:defRPr>
            </a:pPr>
            <a:r>
              <a:t>id     → 42017</a:t>
            </a:r>
          </a:p>
          <a:p>
            <a:pPr>
              <a:spcAft>
                <a:spcPts val="500"/>
              </a:spcAft>
              <a:defRPr sz="2000" b="0">
                <a:solidFill>
                  <a:srgbClr val="232323"/>
                </a:solidFill>
              </a:defRPr>
            </a:pPr>
            <a:r>
              <a:t>name   → "Hamim"</a:t>
            </a:r>
          </a:p>
          <a:p>
            <a:pPr>
              <a:spcAft>
                <a:spcPts val="500"/>
              </a:spcAft>
              <a:defRPr sz="2000" b="0">
                <a:solidFill>
                  <a:srgbClr val="232323"/>
                </a:solidFill>
              </a:defRPr>
            </a:pPr>
            <a:r>
              <a:t>cgpa   → 3.98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93192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For small objects, TypeScript can infer the structure. For reusable contracts, define an interface or type.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6464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9. Interface — The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E7DAA"/>
                </a:solidFill>
              </a:defRPr>
            </a:pPr>
            <a:r>
              <a:t>A central TypeScript concept for object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232323"/>
                </a:solidFill>
              </a:defRPr>
            </a:pPr>
            <a:r>
              <a:t>An interface defines the shape an object should follow. It does not create the actual object.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6035040" cy="420624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847088"/>
            <a:ext cx="5705855" cy="3986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interface Student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id: number;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name: string;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cgpa: number;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const student: Student =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id: 42017,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name: "Hamim",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cgpa: 3.98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783080"/>
            <a:ext cx="4023360" cy="3474720"/>
          </a:xfrm>
          <a:prstGeom prst="roundRect">
            <a:avLst/>
          </a:prstGeom>
          <a:solidFill>
            <a:srgbClr val="F5F8FC"/>
          </a:solidFill>
          <a:ln>
            <a:solidFill>
              <a:srgbClr val="2D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96912" y="1892807"/>
            <a:ext cx="3694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D7D4B"/>
                </a:solidFill>
              </a:defRPr>
            </a:pPr>
            <a:r>
              <a:t>Think of it as a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96912" y="2313432"/>
            <a:ext cx="3694176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</a:defRPr>
            </a:pPr>
            <a:r>
              <a:t>A Student must have:</a:t>
            </a:r>
          </a:p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</a:defRPr>
            </a:pPr>
            <a:r>
              <a:t>id → number</a:t>
            </a:r>
          </a:p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</a:defRPr>
            </a:pPr>
            <a:r>
              <a:t>name → string</a:t>
            </a:r>
          </a:p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</a:defRPr>
            </a:pPr>
            <a:r>
              <a:t>cgpa → number</a:t>
            </a:r>
          </a:p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</a:defRPr>
            </a:pPr>
            <a:r>
              <a:t>The actual object provides the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6464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10. Interface — What if the object is wrong?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E7DAA"/>
                </a:solidFill>
              </a:defRPr>
            </a:pPr>
            <a:r>
              <a:t>Type checking in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5760720" cy="448056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252728"/>
            <a:ext cx="5431536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interface Student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id: number;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name: string;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cgpa: number;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const student: Student =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id: 42017,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name: "Hamim",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cgpa: "3.98" // ❌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F4E79"/>
                </a:solidFill>
              </a:defRPr>
            </a:pPr>
            <a:r>
              <a:t>Two common errors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828800"/>
            <a:ext cx="4206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1. Wrong type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cgpa should be number, but "3.98" is a string.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2. Missing property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If cgpa is not included, TypeScript reports an error because it is required.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489204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D7D4B"/>
                </a:solidFill>
              </a:defRPr>
            </a:pPr>
            <a:r>
              <a:t>Interfaces make data contracts visible and easier to maintain.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6464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11. Optional Properties (?)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E7DAA"/>
                </a:solidFill>
              </a:defRPr>
            </a:pPr>
            <a:r>
              <a:t>Some object properties are not mandatory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669280" cy="429768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5340096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interface Student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id: number;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name: string;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cgpa?: number;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const s1: Student =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id: 1,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name: "Hamim"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}; // 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3258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F4E79"/>
                </a:solidFill>
              </a:defRPr>
            </a:pPr>
            <a:r>
              <a:t>The ? means “optional”.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011680"/>
            <a:ext cx="4114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232323"/>
                </a:solidFill>
              </a:defRPr>
            </a:pPr>
            <a:r>
              <a:t>cgpa?: number</a:t>
            </a:r>
          </a:p>
          <a:p>
            <a:pPr>
              <a:spcAft>
                <a:spcPts val="500"/>
              </a:spcAft>
              <a:defRPr sz="2000" b="0">
                <a:solidFill>
                  <a:srgbClr val="23232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2000" b="0">
                <a:solidFill>
                  <a:srgbClr val="232323"/>
                </a:solidFill>
              </a:defRPr>
            </a:pPr>
            <a:r>
              <a:t>The object may contain cgpa, but it does not have 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749039"/>
            <a:ext cx="4023360" cy="164592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22592" y="3858768"/>
            <a:ext cx="3694176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const s2: Student =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id: 2,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name: "Rahim",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cgpa: 3.80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}; // 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6464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12. Functions — Parameters &amp; Return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E7DAA"/>
                </a:solidFill>
              </a:defRPr>
            </a:pPr>
            <a:r>
              <a:t>Making functions type-safe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852160" cy="402336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344168"/>
            <a:ext cx="5522976" cy="3803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function add(a: number, b: number): number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return a + b;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add(10, 20);       // ✅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add("10", "20"); // 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F4E79"/>
                </a:solidFill>
              </a:defRPr>
            </a:pPr>
            <a:r>
              <a:t>Function anatomy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874519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a: number → first parameter must be a number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b: number → second parameter must be a number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: number → function must return a number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4343400"/>
            <a:ext cx="4206240" cy="137160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14031" y="4453128"/>
            <a:ext cx="3877055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function printName(name: string): void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console.log(name);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6464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13. Interface +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E7DAA"/>
                </a:solidFill>
              </a:defRPr>
            </a:pPr>
            <a:r>
              <a:t>Passing structured data to functions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7716" y="1988557"/>
            <a:ext cx="6492240" cy="4265098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6370" y="2258568"/>
            <a:ext cx="6163055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rPr dirty="0"/>
              <a:t>interface Student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rPr dirty="0"/>
              <a:t>    id: number;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rPr dirty="0"/>
              <a:t>    name: string;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cgpa</a:t>
            </a:r>
            <a:r>
              <a:rPr dirty="0"/>
              <a:t>: number;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rPr dirty="0"/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rPr dirty="0"/>
              <a:t>function </a:t>
            </a:r>
            <a:r>
              <a:rPr dirty="0" err="1"/>
              <a:t>displayStudent</a:t>
            </a:r>
            <a:r>
              <a:rPr dirty="0"/>
              <a:t>(student: Student): void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rPr dirty="0"/>
              <a:t>    console.log(student.name);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rPr dirty="0"/>
              <a:t>    console.log(</a:t>
            </a:r>
            <a:r>
              <a:rPr dirty="0" err="1"/>
              <a:t>student.cgpa</a:t>
            </a:r>
            <a:r>
              <a:rPr dirty="0"/>
              <a:t>);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rPr dirty="0"/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325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F4E79"/>
                </a:solidFill>
              </a:defRPr>
            </a:pPr>
            <a:r>
              <a:t>What TypeScript knows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965960"/>
            <a:ext cx="3657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rPr dirty="0"/>
              <a:t>The function accepts a Student.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endParaRPr dirty="0"/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rPr dirty="0"/>
              <a:t>Therefore student.name, student.id and </a:t>
            </a:r>
            <a:r>
              <a:rPr dirty="0" err="1"/>
              <a:t>student.cgpa</a:t>
            </a:r>
            <a:r>
              <a:rPr dirty="0"/>
              <a:t> are known properties with known types.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endParaRPr dirty="0"/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rPr dirty="0"/>
              <a:t>This reduces accidental misuse.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98348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D7D4B"/>
                </a:solidFill>
              </a:defRPr>
            </a:pPr>
            <a:r>
              <a:t>This pattern becomes very important in backend services and controllers.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6464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14. Union Types (|)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E7DAA"/>
                </a:solidFill>
              </a:defRPr>
            </a:pPr>
            <a:r>
              <a:t>When a value can have more than one allowed 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5120640" cy="301752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389888"/>
            <a:ext cx="4791455" cy="2798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let id: number | string;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id = 42017;       // ✅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id = "42017";     // ✅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id = true;        // 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325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F4E79"/>
                </a:solidFill>
              </a:defRPr>
            </a:pPr>
            <a:r>
              <a:t>The | symbol means 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01168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232323"/>
                </a:solidFill>
              </a:defRPr>
            </a:pPr>
            <a:r>
              <a:t>number | string</a:t>
            </a:r>
          </a:p>
          <a:p>
            <a:pPr>
              <a:spcAft>
                <a:spcPts val="500"/>
              </a:spcAft>
              <a:defRPr sz="2200" b="0">
                <a:solidFill>
                  <a:srgbClr val="23232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2200" b="0">
                <a:solidFill>
                  <a:srgbClr val="232323"/>
                </a:solidFill>
              </a:defRPr>
            </a:pPr>
            <a:r>
              <a:t>means:</a:t>
            </a:r>
          </a:p>
          <a:p>
            <a:pPr>
              <a:spcAft>
                <a:spcPts val="500"/>
              </a:spcAft>
              <a:defRPr sz="2200" b="0">
                <a:solidFill>
                  <a:srgbClr val="232323"/>
                </a:solidFill>
              </a:defRPr>
            </a:pPr>
            <a:r>
              <a:t>number OR string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886200"/>
            <a:ext cx="4572000" cy="164592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48272" y="3995928"/>
            <a:ext cx="4242816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function printId(id: number | string): void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console.log(id);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6464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15. Literal Union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E7DAA"/>
                </a:solidFill>
              </a:defRPr>
            </a:pPr>
            <a:r>
              <a:t>Restrict a value to specific choices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852160" cy="338328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389888"/>
            <a:ext cx="5522976" cy="3163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type Status = "active" | "inactive";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let status: Status;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status = "active";    // ✅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status = "inactive";  // ✅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status = "deleted";   // 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F4E79"/>
                </a:solidFill>
              </a:defRPr>
            </a:pPr>
            <a:r>
              <a:t>Why is this useful?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965960"/>
            <a:ext cx="3931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Instead of allowing any string, we allow only known valid values.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Common examples: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• status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• role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• direction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• environment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• operation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6464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16. type Alias vs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E7DAA"/>
                </a:solidFill>
              </a:defRPr>
            </a:pPr>
            <a:r>
              <a:t>Two ways to describe and name types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029200" cy="219456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344168"/>
            <a:ext cx="470001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interface Student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id: number;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name: string;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029200" cy="219456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19672" y="1344168"/>
            <a:ext cx="470001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type Student =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id: number;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name: string;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703320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F4E79"/>
                </a:solidFill>
              </a:defRPr>
            </a:pPr>
            <a:r>
              <a:t>For basic object structures, both can look very similar.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4389120"/>
            <a:ext cx="6583680" cy="132588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99232" y="4498848"/>
            <a:ext cx="6254496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type ID = number | string;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type Status = "active" | "inactive";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8521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D7D4B"/>
                </a:solidFill>
              </a:defRPr>
            </a:pPr>
            <a:r>
              <a:t>Rule of thumb: interface is commonly used for object/class contracts; type is especially flexible for unions, literals and type composition.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6464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17.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E7DAA"/>
                </a:solidFill>
              </a:defRPr>
            </a:pPr>
            <a:r>
              <a:t>Blueprints for creating objects with data and behavior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6217920" cy="521208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161288"/>
            <a:ext cx="5888736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class Student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name: string;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age: number;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constructor(name: string, age: number)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    this.name = name;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    this.age = age;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introduce(): void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    console.log(this.name);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F4E79"/>
                </a:solidFill>
              </a:defRPr>
            </a:pPr>
            <a:r>
              <a:t>Create an object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874519"/>
            <a:ext cx="3931920" cy="201168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88352" y="1984248"/>
            <a:ext cx="3602736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const student = new Student(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"Hamim",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25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);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student.introduce();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429768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2D7D4B"/>
                </a:solidFill>
              </a:defRPr>
            </a:pPr>
            <a:r>
              <a:t>A class can contain properties, constructors and methods.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6464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18. Constructors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E7DAA"/>
                </a:solidFill>
              </a:defRPr>
            </a:pPr>
            <a:r>
              <a:t>A constructor runs when an object is created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6492240" cy="502920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161288"/>
            <a:ext cx="6163055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class Student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name: string;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age: number;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constructor(name: string, age: number)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    this.name = name;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    this.age = age;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const s = new Student("Hamim", 25);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325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F4E79"/>
                </a:solidFill>
              </a:defRPr>
            </a:pPr>
            <a:r>
              <a:t>Execution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96596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232323"/>
                </a:solidFill>
              </a:defRPr>
            </a:pPr>
            <a:r>
              <a:t>new Student("Hamim", 25)</a:t>
            </a:r>
          </a:p>
          <a:p>
            <a:pPr>
              <a:spcAft>
                <a:spcPts val="500"/>
              </a:spcAft>
              <a:defRPr sz="1900" b="0">
                <a:solidFill>
                  <a:srgbClr val="232323"/>
                </a:solidFill>
              </a:defRPr>
            </a:pPr>
            <a:r>
              <a:t>        ↓</a:t>
            </a:r>
          </a:p>
          <a:p>
            <a:pPr>
              <a:spcAft>
                <a:spcPts val="500"/>
              </a:spcAft>
              <a:defRPr sz="1900" b="0">
                <a:solidFill>
                  <a:srgbClr val="232323"/>
                </a:solidFill>
              </a:defRPr>
            </a:pPr>
            <a:r>
              <a:t>constructor(name, age)</a:t>
            </a:r>
          </a:p>
          <a:p>
            <a:pPr>
              <a:spcAft>
                <a:spcPts val="500"/>
              </a:spcAft>
              <a:defRPr sz="1900" b="0">
                <a:solidFill>
                  <a:srgbClr val="232323"/>
                </a:solidFill>
              </a:defRPr>
            </a:pPr>
            <a:r>
              <a:t>        ↓</a:t>
            </a:r>
          </a:p>
          <a:p>
            <a:pPr>
              <a:spcAft>
                <a:spcPts val="500"/>
              </a:spcAft>
              <a:defRPr sz="1900" b="0">
                <a:solidFill>
                  <a:srgbClr val="232323"/>
                </a:solidFill>
              </a:defRPr>
            </a:pPr>
            <a:r>
              <a:t>this.name = "Hamim"</a:t>
            </a:r>
          </a:p>
          <a:p>
            <a:pPr>
              <a:spcAft>
                <a:spcPts val="500"/>
              </a:spcAft>
              <a:defRPr sz="1900" b="0">
                <a:solidFill>
                  <a:srgbClr val="232323"/>
                </a:solidFill>
              </a:defRPr>
            </a:pPr>
            <a:r>
              <a:t>this.age =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2D7D4B"/>
                </a:solidFill>
              </a:defRPr>
            </a:pPr>
            <a:r>
              <a:t>TypeScript shortcut: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4800600"/>
            <a:ext cx="3840480" cy="109728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08392" y="4910328"/>
            <a:ext cx="351129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constructor(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public name: string,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public age: number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) {}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6464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19. Access Modifiers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E7DAA"/>
                </a:solidFill>
              </a:defRPr>
            </a:pPr>
            <a:r>
              <a:t>Control who can access class members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338328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344168"/>
            <a:ext cx="4882896" cy="3163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class Student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public name: string;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private cgpa: number;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protected id: number;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constructor(...) {}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88720"/>
            <a:ext cx="4663440" cy="1188720"/>
          </a:xfrm>
          <a:prstGeom prst="roundRect">
            <a:avLst/>
          </a:prstGeom>
          <a:solidFill>
            <a:srgbClr val="F5F8F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3952" y="1298448"/>
            <a:ext cx="4334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F4E79"/>
                </a:solidFill>
              </a:defRPr>
            </a:pPr>
            <a:r>
              <a:t>public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1719072"/>
            <a:ext cx="4334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</a:defRPr>
            </a:pPr>
            <a:r>
              <a:t>Accessible from anywhere that has access to the object.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606040"/>
            <a:ext cx="4663440" cy="1188720"/>
          </a:xfrm>
          <a:prstGeom prst="roundRect">
            <a:avLst/>
          </a:prstGeom>
          <a:solidFill>
            <a:srgbClr val="F5F8FC"/>
          </a:solidFill>
          <a:ln>
            <a:solidFill>
              <a:srgbClr val="B9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2715768"/>
            <a:ext cx="4334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B93737"/>
                </a:solidFill>
              </a:defRPr>
            </a:pPr>
            <a:r>
              <a:t>private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3136392"/>
            <a:ext cx="4334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</a:defRPr>
            </a:pPr>
            <a:r>
              <a:t>Accessible only inside the class where it is declared.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023360"/>
            <a:ext cx="4663440" cy="1188720"/>
          </a:xfrm>
          <a:prstGeom prst="roundRect">
            <a:avLst/>
          </a:prstGeom>
          <a:solidFill>
            <a:srgbClr val="F5F8FC"/>
          </a:solidFill>
          <a:ln>
            <a:solidFill>
              <a:srgbClr val="2D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4133088"/>
            <a:ext cx="4334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D7D4B"/>
                </a:solidFill>
              </a:defRPr>
            </a:pPr>
            <a:r>
              <a:t>protected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4553712"/>
            <a:ext cx="4334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</a:defRPr>
            </a:pPr>
            <a:r>
              <a:t>Accessible inside the class and classes that inherit from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32323"/>
                </a:solidFill>
              </a:defRPr>
            </a:pPr>
            <a:r>
              <a:t>Encapsulation idea: keep internal details protected and expose only what users of the class need.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6464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20. Example: private Data + Public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E7DAA"/>
                </a:solidFill>
              </a:defRPr>
            </a:pPr>
            <a:r>
              <a:t>Why access modifiers are useful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05840"/>
            <a:ext cx="6217920" cy="530352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115568"/>
            <a:ext cx="5888736" cy="5084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class BankAccount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private balance: number;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constructor(balance: number)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    this.balance = balance;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deposit(amount: number): void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    this.balance += amount;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getBalance(): number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    return this.balance;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325880"/>
            <a:ext cx="4206240" cy="329184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96912" y="1435607"/>
            <a:ext cx="3877055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const account = new BankAccount(1000);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account.deposit(500);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console.log(account.getBalance());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// 1500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// account.balance 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489204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D7D4B"/>
                </a:solidFill>
              </a:defRPr>
            </a:pPr>
            <a:r>
              <a:t>The balance is controlled through methods instead of being directly changed from outside.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6464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21. Inheritance: extends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E7DAA"/>
                </a:solidFill>
              </a:defRPr>
            </a:pPr>
            <a:r>
              <a:t>Reuse properties and methods from another class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05840"/>
            <a:ext cx="6858000" cy="530352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115568"/>
            <a:ext cx="6528816" cy="5084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class Person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constructor(public name: string) {}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introduce(): void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    console.log(`My name is ${this.name}`);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class Student extends Person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constructor(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    name: string,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    public studentId: number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)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    super(name);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F4E79"/>
                </a:solidFill>
              </a:defRPr>
            </a:pPr>
            <a:r>
              <a:t>extends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192024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Student inherits from Person.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Student can use introduce() even though the method is defined in Person.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2D7D4B"/>
                </a:solidFill>
              </a:defRPr>
            </a:pPr>
            <a:r>
              <a:t>super(name)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438912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Calls the parent class constructor so the inherited part is initialized.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6464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22. async / await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E7DAA"/>
                </a:solidFill>
              </a:defRPr>
            </a:pPr>
            <a:r>
              <a:t>Asynchronous programming for APIs and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232323"/>
                </a:solidFill>
              </a:defRPr>
            </a:pPr>
            <a:r>
              <a:t>An async function returns a Promise. await lets us wait for the Promise result inside an async function.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6400800" cy="365760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38528"/>
            <a:ext cx="6071616" cy="343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async function getName(): Promise&lt;string&gt;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return "Hamim";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async function main(): Promise&lt;void&gt;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const name = await getName();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console.log(name);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828800"/>
            <a:ext cx="365760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71231" y="1938528"/>
            <a:ext cx="3328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F4E79"/>
                </a:solidFill>
              </a:defRPr>
            </a:pPr>
            <a:r>
              <a:t>Promise&lt;string&gt;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71231" y="2359152"/>
            <a:ext cx="33284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</a:defRPr>
            </a:pPr>
            <a:r>
              <a:t>The function will eventually produce a string.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3200400"/>
            <a:ext cx="365760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2D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71231" y="3310128"/>
            <a:ext cx="3328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D7D4B"/>
                </a:solidFill>
              </a:defRPr>
            </a:pPr>
            <a:r>
              <a:t>await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1231" y="3730752"/>
            <a:ext cx="33284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</a:defRPr>
            </a:pPr>
            <a:r>
              <a:t>Waits for the Promise result before continuing.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470916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32323"/>
                </a:solidFill>
              </a:defRPr>
            </a:pPr>
            <a:r>
              <a:t>Very common in backend programming: database queries, HTTP requests, file operations and external APIs.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6464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23. Promise&lt;T&gt;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E7DAA"/>
                </a:solidFill>
              </a:defRPr>
            </a:pPr>
            <a:r>
              <a:t>Understanding the type of an asynchronous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6583680" cy="448056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207007"/>
            <a:ext cx="6254496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interface Student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id: number;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name: string;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async function getStudent(): Promise&lt;Student&gt;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return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    id: 42017,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    name: "Hamim"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};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F4E79"/>
                </a:solidFill>
              </a:defRPr>
            </a:pPr>
            <a:r>
              <a:t>Read Promise&lt;Student&gt; as: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0116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232323"/>
                </a:solidFill>
              </a:defRPr>
            </a:pPr>
            <a:r>
              <a:t>“This asynchronous operation will eventually give me a Student.”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3657600"/>
            <a:ext cx="3657600" cy="164592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54112" y="3767328"/>
            <a:ext cx="3328416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Promise&lt;Student[]&gt;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= eventually gives an array of Students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6464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24. Generics &lt;T&gt;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E7DAA"/>
                </a:solidFill>
              </a:defRPr>
            </a:pPr>
            <a:r>
              <a:t>Reusable code that remains type-safe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232323"/>
                </a:solidFill>
              </a:defRPr>
            </a:pPr>
            <a:r>
              <a:t>A generic is a placeholder for a type. The actual type is supplied when the function/type is used.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6035040" cy="365760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38528"/>
            <a:ext cx="5705855" cy="343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function getData&lt;T&gt;(data: T): T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return data;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const name = getData("Hamim"); // string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const age = getData(25);         // number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const ok = getData(true);        // boolean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417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F4E79"/>
                </a:solidFill>
              </a:defRPr>
            </a:pPr>
            <a:r>
              <a:t>T means “some type”.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05740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232323"/>
                </a:solidFill>
              </a:defRPr>
            </a:pPr>
            <a:r>
              <a:t>The same function can safely work with different data types.</a:t>
            </a:r>
          </a:p>
          <a:p>
            <a:pPr>
              <a:spcAft>
                <a:spcPts val="500"/>
              </a:spcAft>
              <a:defRPr sz="1900" b="0">
                <a:solidFill>
                  <a:srgbClr val="23232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900" b="0">
                <a:solidFill>
                  <a:srgbClr val="232323"/>
                </a:solidFill>
              </a:defRPr>
            </a:pPr>
            <a:r>
              <a:t>TypeScript can usually infer T automatically.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438912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B93737"/>
                </a:solidFill>
              </a:defRPr>
            </a:pPr>
            <a:r>
              <a:t>Avoid replacing generics with any when type safety matters.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6464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25. Generics with Interfaces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E7DAA"/>
                </a:solidFill>
              </a:defRPr>
            </a:pPr>
            <a:r>
              <a:t>A common pattern for API responses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05840"/>
            <a:ext cx="6675120" cy="512064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115568"/>
            <a:ext cx="6345936" cy="4901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interface ApiResponse&lt;T&gt;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success: boolean;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data: T;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interface Student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id: number;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name: string;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const response: ApiResponse&lt;Student&gt; =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success: true,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data: { id: 1, name: "Hamim" 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325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F4E79"/>
                </a:solidFill>
              </a:defRPr>
            </a:pPr>
            <a:r>
              <a:t>Same wrapper, different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965960"/>
            <a:ext cx="3657600" cy="256032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99831" y="2075688"/>
            <a:ext cx="3328416" cy="2340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ApiResponse&lt;Student&gt;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ApiResponse&lt;Student[]&gt;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ApiResponse&lt;string&gt;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ApiResponse&lt;number&gt;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80060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D7D4B"/>
                </a:solidFill>
              </a:defRPr>
            </a:pPr>
            <a:r>
              <a:t>Generics are especially useful when many API responses share the same structure but contain different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6464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26. Putting Everything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E7DAA"/>
                </a:solidFill>
              </a:defRPr>
            </a:pPr>
            <a:r>
              <a:t>A realistic TypeScript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6583680" cy="493776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207007"/>
            <a:ext cx="6254496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interface Student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id: number;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name: string;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cgpa?: number;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async function getStudents(): Promise&lt;Student[]&gt;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return [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    { id: 1, name: "Hamim", cgpa: 3.98 },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    { id: 2, name: "Rahim" 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];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F4E79"/>
                </a:solidFill>
              </a:defRPr>
            </a:pPr>
            <a:r>
              <a:t>Concepts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96596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232323"/>
                </a:solidFill>
              </a:defRPr>
            </a:pPr>
            <a:r>
              <a:t>✓ interface</a:t>
            </a:r>
          </a:p>
          <a:p>
            <a:pPr>
              <a:spcAft>
                <a:spcPts val="500"/>
              </a:spcAft>
              <a:defRPr sz="1900" b="0">
                <a:solidFill>
                  <a:srgbClr val="232323"/>
                </a:solidFill>
              </a:defRPr>
            </a:pPr>
            <a:r>
              <a:t>✓ optional property (?)</a:t>
            </a:r>
          </a:p>
          <a:p>
            <a:pPr>
              <a:spcAft>
                <a:spcPts val="500"/>
              </a:spcAft>
              <a:defRPr sz="1900" b="0">
                <a:solidFill>
                  <a:srgbClr val="232323"/>
                </a:solidFill>
              </a:defRPr>
            </a:pPr>
            <a:r>
              <a:t>✓ object literals</a:t>
            </a:r>
          </a:p>
          <a:p>
            <a:pPr>
              <a:spcAft>
                <a:spcPts val="500"/>
              </a:spcAft>
              <a:defRPr sz="1900" b="0">
                <a:solidFill>
                  <a:srgbClr val="232323"/>
                </a:solidFill>
              </a:defRPr>
            </a:pPr>
            <a:r>
              <a:t>✓ Student[] array</a:t>
            </a:r>
          </a:p>
          <a:p>
            <a:pPr>
              <a:spcAft>
                <a:spcPts val="500"/>
              </a:spcAft>
              <a:defRPr sz="1900" b="0">
                <a:solidFill>
                  <a:srgbClr val="232323"/>
                </a:solidFill>
              </a:defRPr>
            </a:pPr>
            <a:r>
              <a:t>✓ async function</a:t>
            </a:r>
          </a:p>
          <a:p>
            <a:pPr>
              <a:spcAft>
                <a:spcPts val="500"/>
              </a:spcAft>
              <a:defRPr sz="1900" b="0">
                <a:solidFill>
                  <a:srgbClr val="232323"/>
                </a:solidFill>
              </a:defRPr>
            </a:pPr>
            <a:r>
              <a:t>✓ Promise&lt;Student[]&gt;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48920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D7D4B"/>
                </a:solidFill>
              </a:defRPr>
            </a:pPr>
            <a:r>
              <a:t>This style of typed asynchronous code is common in modern backend applications.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6464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27. Common TypeScript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E7DAA"/>
                </a:solidFill>
              </a:defRPr>
            </a:pPr>
            <a:r>
              <a:t>Things students often get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F4E79"/>
                </a:solidFill>
              </a:defRPr>
            </a:pPr>
            <a:r>
              <a:t>1. Wrong primitive 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840480" cy="91440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709928"/>
            <a:ext cx="351129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let age: number = "25"; // 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F4E79"/>
                </a:solidFill>
              </a:defRPr>
            </a:pPr>
            <a:r>
              <a:t>2. Missing required property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46120"/>
            <a:ext cx="5029200" cy="132588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3355848"/>
            <a:ext cx="4700016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interface User { id: number; name: string; 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const u: User = { id: 1 }; // 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097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B93737"/>
                </a:solidFill>
              </a:defRPr>
            </a:pPr>
            <a:r>
              <a:t>3. Using any everywhere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4297680" cy="150876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709928"/>
            <a:ext cx="3968496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let data: any = "hello";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data = 100;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data = true;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429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F4E79"/>
                </a:solidFill>
              </a:defRPr>
            </a:pPr>
            <a:r>
              <a:t>4. Confusing | with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977639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A | B means A OR B.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A &amp; B means a value satisfying both types.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2120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D7D4B"/>
                </a:solidFill>
              </a:defRPr>
            </a:pPr>
            <a:r>
              <a:t>5. Forgetting that async functions return Promise&lt;T&gt;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6464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28. TypeScript in NestJS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E7DAA"/>
                </a:solidFill>
              </a:defRPr>
            </a:pPr>
            <a:r>
              <a:t>Why these concepts matter before learning NestJS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232323"/>
                </a:solidFill>
              </a:defRPr>
            </a:pPr>
            <a:r>
              <a:t>NestJS is built around TypeScript classes, decorators, dependency injection and typed application structures.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6583680" cy="429768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38528"/>
            <a:ext cx="6254496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@Controller("students")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export class StudentController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constructor(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    private studentService: StudentService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) {}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@Injectable()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export class StudentService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async findAll(): Promise&lt;Student[]&gt;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    // ...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4173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F4E79"/>
                </a:solidFill>
              </a:defRPr>
            </a:pPr>
            <a:r>
              <a:t>Before NestJS, students should be comfortable with: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10312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• Types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• Interfaces / type aliases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• Functions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• Classes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• Constructors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• Access modifiers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• Inheritance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• async/await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• Promises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• Generics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6464"/>
                </a:solidFill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29. Quick Reference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E7DAA"/>
                </a:solidFill>
              </a:defRPr>
            </a:pPr>
            <a:r>
              <a:t>Keep this slide for revision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6583680" cy="530352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069848"/>
            <a:ext cx="6254496" cy="5084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// Variable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let age: number = 25;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// Array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let names: string[] = ["A", "B"];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// Interface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interface Student { id: number; name: string; 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// Function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function add(a: number, b: number): number { return a + b; 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// Union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type ID = number | string;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// Optional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interface User { id: number; phone?: string;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960120"/>
            <a:ext cx="4251960" cy="530352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25512" y="1069848"/>
            <a:ext cx="3922776" cy="5084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// Class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class Student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constructor(public name: string) {}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// Inheritance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class Graduate extends Student {}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// Async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async function getName(): Promise&lt;string&gt;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return "Hamim";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// Generic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function getData&lt;T&gt;(data: T): T {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return data;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6464"/>
                </a:solidFill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2219134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rPr dirty="0"/>
              <a:t>30. Exercises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E7DAA"/>
                </a:solidFill>
              </a:defRPr>
            </a:pPr>
            <a:r>
              <a:t>Practice is more important than memorizing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F4E79"/>
                </a:solidFill>
              </a:defRPr>
            </a:pPr>
            <a:r>
              <a:t>Exercise 1 — Student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Create Student with id, name, email, cgpa and isActive. Create 3 students.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F4E79"/>
                </a:solidFill>
              </a:defRPr>
            </a:pPr>
            <a:r>
              <a:t>Exercise 2 —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Write displayStudent(student: Student): void and print name + CGPA.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05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2D7D4B"/>
                </a:solidFill>
              </a:defRPr>
            </a:pPr>
            <a:r>
              <a:t>Exercise 3 — Generics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Write getLast&lt;T&gt;(items: T[]): T and test it with strings and numbers.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2D7D4B"/>
                </a:solidFill>
              </a:defRPr>
            </a:pPr>
            <a:r>
              <a:t>Exercise 4 — Async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918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</a:defRPr>
            </a:pPr>
            <a:r>
              <a:t>Write getStudents(): Promise&lt;Student[]&gt; and use await to display the result.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166360"/>
            <a:ext cx="8595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E7DAA"/>
                </a:solidFill>
              </a:defRPr>
            </a:pPr>
            <a:r>
              <a:rPr lang="en-US" dirty="0"/>
              <a:t>Extra</a:t>
            </a:r>
            <a:r>
              <a:rPr dirty="0"/>
              <a:t>: combine interface + array + generic + async/await in one mini program.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6464"/>
                </a:solidFill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31. Final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E7DAA"/>
                </a:solidFill>
              </a:defRPr>
            </a:pPr>
            <a:r>
              <a:t>The TypeScript mental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F4E79"/>
                </a:solidFill>
              </a:defRPr>
            </a:pPr>
            <a:r>
              <a:t>1.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32323"/>
                </a:solidFill>
              </a:defRPr>
            </a:pPr>
            <a:r>
              <a:t>Describe what kind of data we have.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25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F4E79"/>
                </a:solidFill>
              </a:defRPr>
            </a:pPr>
            <a:r>
              <a:t>2. STRUCTURES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74519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32323"/>
                </a:solidFill>
              </a:defRPr>
            </a:pPr>
            <a:r>
              <a:t>Interfaces, types, arrays and objects describe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325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F4E79"/>
                </a:solidFill>
              </a:defRPr>
            </a:pPr>
            <a:r>
              <a:t>3. BEHAVIOR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874519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32323"/>
                </a:solidFill>
              </a:defRPr>
            </a:pPr>
            <a:r>
              <a:t>Functions and classes define what the program does.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3154680"/>
            <a:ext cx="6766560" cy="2377440"/>
          </a:xfrm>
          <a:prstGeom prst="roundRect">
            <a:avLst/>
          </a:prstGeom>
          <a:solidFill>
            <a:srgbClr val="1D2127"/>
          </a:solidFill>
          <a:ln>
            <a:solidFill>
              <a:srgbClr val="46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07792" y="3264408"/>
            <a:ext cx="643737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Types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↓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Interfaces / Classes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↓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Functions + async/await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↓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Reusable type-safe application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  ↓</a:t>
            </a:r>
          </a:p>
          <a:p>
            <a:pPr>
              <a:spcAft>
                <a:spcPts val="200"/>
              </a:spcAft>
              <a:defRPr sz="1400">
                <a:solidFill>
                  <a:srgbClr val="EEEEEE"/>
                </a:solidFill>
                <a:latin typeface="Consolas"/>
              </a:defRPr>
            </a:pPr>
            <a:r>
              <a:t>NestJS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80644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D7D4B"/>
                </a:solidFill>
              </a:defRPr>
            </a:pPr>
            <a:r>
              <a:t>Next lesson: NestJS fundamentals — project structure, modules, controllers, services and dependency injection.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6464"/>
                </a:solidFill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3233</Words>
  <Application>Microsoft Office PowerPoint</Application>
  <PresentationFormat>Widescreen</PresentationFormat>
  <Paragraphs>631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SULTANUL ARIFEEN HAMIM</cp:lastModifiedBy>
  <cp:revision>2</cp:revision>
  <dcterms:created xsi:type="dcterms:W3CDTF">2013-01-27T09:14:16Z</dcterms:created>
  <dcterms:modified xsi:type="dcterms:W3CDTF">2026-10-06T06:23:01Z</dcterms:modified>
  <cp:category/>
</cp:coreProperties>
</file>